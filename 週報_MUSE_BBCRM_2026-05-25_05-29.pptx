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  <a:latin typeface="Aptos"/>
              </a:rPr>
              <a:t>MUSE BBCRM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8FAFC"/>
                </a:solidFill>
                <a:latin typeface="Aptos Display"/>
              </a:rPr>
              <a:t>本週修改與優化週報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3172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期間：2026/05/25 – 2026/05/29｜對象：主管與非技術團隊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60520"/>
            <a:ext cx="2423160" cy="12344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370832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7C3AED"/>
                </a:solidFill>
                <a:latin typeface="Aptos"/>
              </a:rPr>
              <a:t>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0060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個主要檔案調整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160520"/>
            <a:ext cx="2423160" cy="12344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4370832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6B6D4"/>
                </a:solidFill>
                <a:latin typeface="Aptos"/>
              </a:rPr>
              <a:t>3,110+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80060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行新增內容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4160520"/>
            <a:ext cx="2423160" cy="12344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4370832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0B981"/>
                </a:solidFill>
                <a:latin typeface="Aptos"/>
              </a:rPr>
              <a:t>5/28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480060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完成多輪驗證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3999" y="4160520"/>
            <a:ext cx="2423160" cy="12344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79" y="4370832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59E0B"/>
                </a:solidFill>
                <a:latin typeface="Aptos"/>
              </a:rPr>
              <a:t>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79" y="4800600"/>
            <a:ext cx="20116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tos"/>
              </a:rPr>
              <a:t>含實際畫面截圖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6080760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資料來源：本週專案工作區改動、QA 報告與 2026/05/28 實測截圖。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一頁看懂本週成果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F172A"/>
                </a:solidFill>
                <a:latin typeface="Aptos"/>
              </a:rPr>
              <a:t>重點放在使用者感受到的改善，不列複雜技術細節。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764792"/>
            <a:ext cx="4114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709928"/>
            <a:ext cx="3977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對話工作台更完整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21408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客服可在同一畫面看對話、客戶狀態、AI 建議與快速回覆，操作更集中。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46520" y="1764792"/>
            <a:ext cx="4114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95159" y="1709928"/>
            <a:ext cx="3977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回覆效率提升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121408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預存語錄可搜尋、插入並帶入圖片，減少重複打字與回覆落差。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685032"/>
            <a:ext cx="411480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3630168"/>
            <a:ext cx="3977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主管視角更清楚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041648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儀表板補強角色檢查與資料範圍，降低一般人看到主管統計的風險。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51663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3685032"/>
            <a:ext cx="4114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59" y="3630168"/>
            <a:ext cx="3977639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即時同步修補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4041648"/>
            <a:ext cx="4023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訊息送出、結案、待辦新增後，其他畫面可更快更新，減少手動刷新。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623560"/>
            <a:ext cx="1280160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673852"/>
            <a:ext cx="1188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8FAFC"/>
                </a:solidFill>
                <a:latin typeface="Aptos"/>
              </a:rPr>
              <a:t>整體判斷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596128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Aptos"/>
              </a:rPr>
              <a:t>功能面已有明顯進展；但權限、AI 分析落地與庫存連線仍需收尾後再視為可正式上線。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實際畫面 1｜對話工作台整合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Aptos"/>
              </a:rPr>
              <a:t>畫面證據：客服能同時看到對話內容、客戶身份、AI 摘要與建議回覆。</a:t>
            </a:r>
          </a:p>
        </p:txBody>
      </p:sp>
      <p:pic>
        <p:nvPicPr>
          <p:cNvPr id="5" name="Picture 4" descr="inbox-cockp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" y="1234440"/>
            <a:ext cx="7827264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641080" y="1234440"/>
            <a:ext cx="29718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5544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本週改善重點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057400"/>
            <a:ext cx="2331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6B6D4"/>
                </a:solidFill>
              </a:rPr>
              <a:t>●  </a:t>
            </a:r>
            <a:r>
              <a:rPr sz="1300">
                <a:solidFill>
                  <a:srgbClr val="CBD5E1"/>
                </a:solidFill>
                <a:latin typeface="Aptos"/>
              </a:rPr>
              <a:t>把客戶狀態、意圖與摘要集中在右側，不必切換多個頁面。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6B6D4"/>
                </a:solidFill>
              </a:rPr>
              <a:t>●  </a:t>
            </a:r>
            <a:r>
              <a:rPr sz="1300">
                <a:solidFill>
                  <a:srgbClr val="CBD5E1"/>
                </a:solidFill>
                <a:latin typeface="Aptos"/>
              </a:rPr>
              <a:t>回覆草稿與建議動作更靠近輸入區，降低客服漏看機率。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6B6D4"/>
                </a:solidFill>
              </a:rPr>
              <a:t>●  </a:t>
            </a:r>
            <a:r>
              <a:rPr sz="1300">
                <a:solidFill>
                  <a:srgbClr val="CBD5E1"/>
                </a:solidFill>
                <a:latin typeface="Aptos"/>
              </a:rPr>
              <a:t>畫面已提供深色與淺色檢視，便於後續整理成正式操作介面。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實際畫面 2｜快速回覆與圖片輔助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F172A"/>
                </a:solidFill>
                <a:latin typeface="Aptos"/>
              </a:rPr>
              <a:t>畫面證據：預存語錄彈窗可搜尋、分類，並能帶入圖片與標準回覆。</a:t>
            </a:r>
          </a:p>
        </p:txBody>
      </p:sp>
      <p:pic>
        <p:nvPicPr>
          <p:cNvPr id="5" name="Picture 4" descr="quick-replies-dropdown-op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88" y="1234440"/>
            <a:ext cx="7188303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823960" y="123444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98280" y="157276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對業務的價值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2057400"/>
            <a:ext cx="2148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7C3AED"/>
                </a:solidFill>
              </a:rPr>
              <a:t>●  </a:t>
            </a:r>
            <a:r>
              <a:rPr sz="1300">
                <a:solidFill>
                  <a:srgbClr val="0F172A"/>
                </a:solidFill>
                <a:latin typeface="Aptos"/>
              </a:rPr>
              <a:t>常用話術集中管理，降低新人訓練成本。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7C3AED"/>
                </a:solidFill>
              </a:rPr>
              <a:t>●  </a:t>
            </a:r>
            <a:r>
              <a:rPr sz="1300">
                <a:solidFill>
                  <a:srgbClr val="0F172A"/>
                </a:solidFill>
                <a:latin typeface="Aptos"/>
              </a:rPr>
              <a:t>詢價、尺寸、材質說明可更快回覆。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7C3AED"/>
                </a:solidFill>
              </a:rPr>
              <a:t>●  </a:t>
            </a:r>
            <a:r>
              <a:rPr sz="1300">
                <a:solidFill>
                  <a:srgbClr val="0F172A"/>
                </a:solidFill>
                <a:latin typeface="Aptos"/>
              </a:rPr>
              <a:t>後續可擴充成「一鍵文字 + 圖片」完整話術包。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實際畫面 3｜主管儀表板與權限修補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Aptos"/>
              </a:rPr>
              <a:t>畫面證據：主管頁面已被列入角色檢查與 QA 範圍。</a:t>
            </a:r>
          </a:p>
        </p:txBody>
      </p:sp>
      <p:pic>
        <p:nvPicPr>
          <p:cNvPr id="5" name="Picture 4" descr="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71" y="1234440"/>
            <a:ext cx="7044537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595360" y="1234440"/>
            <a:ext cx="29718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7968" y="157276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為什麼重要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2057400"/>
            <a:ext cx="2331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59E0B"/>
                </a:solidFill>
              </a:rPr>
              <a:t>●  </a:t>
            </a:r>
            <a:r>
              <a:rPr sz="1300">
                <a:solidFill>
                  <a:srgbClr val="CBD5E1"/>
                </a:solidFill>
                <a:latin typeface="Aptos"/>
              </a:rPr>
              <a:t>主管統計不應被一般帳號看到。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9E0B"/>
                </a:solidFill>
              </a:rPr>
              <a:t>●  </a:t>
            </a:r>
            <a:r>
              <a:rPr sz="1300">
                <a:solidFill>
                  <a:srgbClr val="CBD5E1"/>
                </a:solidFill>
                <a:latin typeface="Aptos"/>
              </a:rPr>
              <a:t>本週已針對儀表板與側欄做修補。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59E0B"/>
                </a:solidFill>
              </a:rPr>
              <a:t>●  </a:t>
            </a:r>
            <a:r>
              <a:rPr sz="1300">
                <a:solidFill>
                  <a:srgbClr val="CBD5E1"/>
                </a:solidFill>
                <a:latin typeface="Aptos"/>
              </a:rPr>
              <a:t>仍需再跑完整權限回歸，確認每種角色看到的內容正確。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實際畫面 4｜AI 客戶情報與語氣分析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F172A"/>
                </a:solidFill>
                <a:latin typeface="Aptos"/>
              </a:rPr>
              <a:t>畫面證據：AI 區塊可顯示摘要、身份、急迫程度與回覆草稿；但仍需讓結果完全來自真實分析。</a:t>
            </a:r>
          </a:p>
        </p:txBody>
      </p:sp>
      <p:pic>
        <p:nvPicPr>
          <p:cNvPr id="5" name="Picture 4" descr="08-inbox-after-deep-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48" y="1234440"/>
            <a:ext cx="7415302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641080" y="1234440"/>
            <a:ext cx="29718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572768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本週結論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057400"/>
            <a:ext cx="233172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EF4444"/>
                </a:solidFill>
              </a:rPr>
              <a:t>●  </a:t>
            </a:r>
            <a:r>
              <a:rPr sz="1300">
                <a:solidFill>
                  <a:srgbClr val="0F172A"/>
                </a:solidFill>
                <a:latin typeface="Aptos"/>
              </a:rPr>
              <a:t>介面入口與畫面呈現已具雛形。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F4444"/>
                </a:solidFill>
              </a:rPr>
              <a:t>●  </a:t>
            </a:r>
            <a:r>
              <a:rPr sz="1300">
                <a:solidFill>
                  <a:srgbClr val="0F172A"/>
                </a:solidFill>
                <a:latin typeface="Aptos"/>
              </a:rPr>
              <a:t>後台測試與前端建置通過。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EF4444"/>
                </a:solidFill>
              </a:rPr>
              <a:t>●  </a:t>
            </a:r>
            <a:r>
              <a:rPr sz="1300">
                <a:solidFill>
                  <a:srgbClr val="0F172A"/>
                </a:solidFill>
                <a:latin typeface="Aptos"/>
              </a:rPr>
              <a:t>正式上線前，必須確認分析結果真的成功保存，不能只顯示暫時文字。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本週驗證結果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Aptos"/>
              </a:rPr>
              <a:t>以主管可讀方式整理：哪些已通過、哪些仍要補。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10652760" cy="621792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481328"/>
            <a:ext cx="105156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1333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已通過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481328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前端檢查與正式打包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81328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畫面可正常編譯，基本品質門檻通過。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67128"/>
            <a:ext cx="10652760" cy="621792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2322576"/>
            <a:ext cx="105156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4580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已通過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322576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後端重點測試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22576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快速回覆、互動訊息、即時更新等重點測試多數通過。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08376"/>
            <a:ext cx="10652760" cy="621792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20" y="3163824"/>
            <a:ext cx="10515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19582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需補強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3163824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權限邊界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63824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曾發現一般帳號可看主管資料；已修補，需再跑完整驗證。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849624"/>
            <a:ext cx="10652760" cy="621792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0120" y="4005072"/>
            <a:ext cx="10515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037076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需補強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005072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AI 分析保存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05072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操作入口可見，但分析結果未完全確認能寫入並回到畫面。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690872"/>
            <a:ext cx="10652760" cy="621792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4846320"/>
            <a:ext cx="1051560" cy="292608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878324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8FAFC"/>
                </a:solidFill>
                <a:latin typeface="Aptos"/>
              </a:rPr>
              <a:t>阻擋項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4846320"/>
            <a:ext cx="21031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庫存連線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846320"/>
            <a:ext cx="6263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庫存頁曾遇到外部服務無法連線，正式上線前需處理。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修改與優化分類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F172A"/>
                </a:solidFill>
                <a:latin typeface="Aptos"/>
              </a:rPr>
              <a:t>本週不是單一功能，而是把對話、權限、AI、測試一起往產品化推進。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0392" y="1600200"/>
            <a:ext cx="32004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572768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客服對話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0116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80">
                <a:solidFill>
                  <a:srgbClr val="7C3AED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送出訊息後即時更新</a:t>
            </a:r>
          </a:p>
          <a:p>
            <a:pPr>
              <a:spcAft>
                <a:spcPts val="800"/>
              </a:spcAft>
            </a:pPr>
            <a:r>
              <a:rPr sz="1080">
                <a:solidFill>
                  <a:srgbClr val="7C3AED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支援回覆指定訊息</a:t>
            </a:r>
          </a:p>
          <a:p>
            <a:pPr>
              <a:spcAft>
                <a:spcPts val="800"/>
              </a:spcAft>
            </a:pPr>
            <a:r>
              <a:rPr sz="1080">
                <a:solidFill>
                  <a:srgbClr val="7C3AED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可顯示機器人互動按鈕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9431" y="1600200"/>
            <a:ext cx="32004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572768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快速回覆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0116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80">
                <a:solidFill>
                  <a:srgbClr val="10B981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語錄搜尋與分類</a:t>
            </a:r>
          </a:p>
          <a:p>
            <a:pPr>
              <a:spcAft>
                <a:spcPts val="800"/>
              </a:spcAft>
            </a:pPr>
            <a:r>
              <a:rPr sz="1080">
                <a:solidFill>
                  <a:srgbClr val="10B981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圖片附件基礎能力</a:t>
            </a:r>
          </a:p>
          <a:p>
            <a:pPr>
              <a:spcAft>
                <a:spcPts val="800"/>
              </a:spcAft>
            </a:pPr>
            <a:r>
              <a:rPr sz="1080">
                <a:solidFill>
                  <a:srgbClr val="10B981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管理頁規劃擴充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48471" y="1600200"/>
            <a:ext cx="32004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572768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主管與權限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20116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80">
                <a:solidFill>
                  <a:srgbClr val="06B6D4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主管統計加上角色檢查</a:t>
            </a:r>
          </a:p>
          <a:p>
            <a:pPr>
              <a:spcAft>
                <a:spcPts val="800"/>
              </a:spcAft>
            </a:pPr>
            <a:r>
              <a:rPr sz="1080">
                <a:solidFill>
                  <a:srgbClr val="06B6D4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側欄依角色過濾</a:t>
            </a:r>
          </a:p>
          <a:p>
            <a:pPr>
              <a:spcAft>
                <a:spcPts val="800"/>
              </a:spcAft>
            </a:pPr>
            <a:r>
              <a:rPr sz="1080">
                <a:solidFill>
                  <a:srgbClr val="06B6D4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降低資料誤看的風險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56616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2" y="3749040"/>
            <a:ext cx="32004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721608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AI 客戶情報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16052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80">
                <a:solidFill>
                  <a:srgbClr val="F59E0B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接入新的分析來源選項</a:t>
            </a:r>
          </a:p>
          <a:p>
            <a:pPr>
              <a:spcAft>
                <a:spcPts val="800"/>
              </a:spcAft>
            </a:pPr>
            <a:r>
              <a:rPr sz="1080">
                <a:solidFill>
                  <a:srgbClr val="F59E0B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語氣／急迫程度檢查</a:t>
            </a:r>
          </a:p>
          <a:p>
            <a:pPr>
              <a:spcAft>
                <a:spcPts val="800"/>
              </a:spcAft>
            </a:pPr>
            <a:r>
              <a:rPr sz="1080">
                <a:solidFill>
                  <a:srgbClr val="F59E0B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補上成本與失敗風險提醒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3375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99431" y="3749040"/>
            <a:ext cx="320040" cy="3200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721608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"/>
              </a:rPr>
              <a:t>穩定性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16052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80">
                <a:solidFill>
                  <a:srgbClr val="EF4444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即時通知修補</a:t>
            </a:r>
          </a:p>
          <a:p>
            <a:pPr>
              <a:spcAft>
                <a:spcPts val="800"/>
              </a:spcAft>
            </a:pPr>
            <a:r>
              <a:rPr sz="1080">
                <a:solidFill>
                  <a:srgbClr val="EF4444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測試報告與截圖留證</a:t>
            </a:r>
          </a:p>
          <a:p>
            <a:pPr>
              <a:spcAft>
                <a:spcPts val="800"/>
              </a:spcAft>
            </a:pPr>
            <a:r>
              <a:rPr sz="1080">
                <a:solidFill>
                  <a:srgbClr val="EF4444"/>
                </a:solidFill>
              </a:rPr>
              <a:t>●  </a:t>
            </a:r>
            <a:r>
              <a:rPr sz="1080">
                <a:solidFill>
                  <a:srgbClr val="0F172A"/>
                </a:solidFill>
                <a:latin typeface="Aptos"/>
              </a:rPr>
              <a:t>部署前風險清單更清楚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 Display"/>
              </a:rPr>
              <a:t>下週建議安排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CBD5E1"/>
                </a:solidFill>
                <a:latin typeface="Aptos"/>
              </a:rPr>
              <a:t>先收斂風險，再安排正式展示或部署。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4937760" cy="91440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78408" y="154533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" y="1627632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1490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8FAFC"/>
                </a:solidFill>
                <a:latin typeface="Aptos"/>
              </a:rPr>
              <a:t>權限完整回歸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181051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用管理員、主管、一般人三種身份重新驗證頁面與資料。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4937760" cy="91440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64807" y="154533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1112" y="1627632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4904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8FAFC"/>
                </a:solidFill>
                <a:latin typeface="Aptos"/>
              </a:rPr>
              <a:t>AI 分析閉環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81051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確認點擊分析後，結果能保存、能回到畫面、失敗時有提示。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697480"/>
            <a:ext cx="4937760" cy="91440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8408" y="291693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999232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28620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8FAFC"/>
                </a:solidFill>
                <a:latin typeface="Aptos"/>
              </a:rPr>
              <a:t>庫存服務連線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318211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確認庫存來源可用；若不可用，頁面要有友善提示。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697480"/>
            <a:ext cx="4937760" cy="91440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64807" y="291693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2999232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8620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8FAFC"/>
                </a:solidFill>
                <a:latin typeface="Aptos"/>
              </a:rPr>
              <a:t>快速回覆管理補齊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18211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補上圖片、類型、關鍵字管理，讓營運可自行維護話術。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069080"/>
            <a:ext cx="4937760" cy="91440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8408" y="4288536"/>
            <a:ext cx="475488" cy="47548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24712" y="4370832"/>
            <a:ext cx="182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19" y="42336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8FAFC"/>
                </a:solidFill>
                <a:latin typeface="Aptos"/>
              </a:rPr>
              <a:t>整理上線包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4553712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移除測試暫存檔與敏感本機檔案，再進入部署流程。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Aptos Display"/>
              </a:rPr>
              <a:t>截圖與報告來源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0F172A"/>
                </a:solidFill>
                <a:latin typeface="Aptos"/>
              </a:rPr>
              <a:t>方便主管追溯本週證據。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• qa-output-17/ui-cockpit/inbox-cockpit.png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6479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• qa-output-17/tunnel-deploy/quick-replies-dropdown-open.png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03704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• qa-output-17/rbac-ui/admin-dashboard.png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42615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• qa-output-17/screenshots-ai-tone/08-inbox-after-deep-analysis.png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81528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• qa-output-17/QA_REPORT_17.md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39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• qa-output-17/RBAC_QA_REPORT_17.md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5935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• qa-output-17/REALTIME_UPDATE_FIX_REPORT.md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98264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Aptos"/>
              </a:rPr>
              <a:t>• qa-output-17/AI_TONE_ANALYSIS_QA_REPORT.md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tos"/>
              </a:rPr>
              <a:t>備註：本週 Git 已提交紀錄為空；本週報依照目前工作區改動、5/28 QA 留證與實際畫面截圖統整。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6B6D4"/>
                </a:solidFill>
                <a:latin typeface="Aptos"/>
              </a:rPr>
              <a:t>功能截圖附錄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9418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Aptos Display"/>
              </a:rPr>
              <a:t>全功能畫面截圖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28600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Aptos"/>
              </a:rPr>
              <a:t>以下將 BBCRM 主要功能逐一放入簡報，方便主管快速瀏覽目前產品覆蓋範圍。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01. 登入頁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26280" y="2971800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02. 主管儀表板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971800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03. 對話收件匣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10712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04. 對話工作台強化版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410712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05. 發送訊息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410712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06. 內部備註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9624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07. 預存語錄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49624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08. 求援／升級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849624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09. 標記已解決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288536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10. 篩選與搜尋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288536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11. 客戶管理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288536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12. 客戶詳情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27448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13. 報價管理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727448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14. 待辦事項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727448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15. 庫存管理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16. 知識庫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166360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17. 系統設定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166360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18. 快速回覆管理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05272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19. AI 客戶情報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605272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20. 機器人互動訊息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605272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21. 即時更新驗證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 Display"/>
              </a:rPr>
              <a:t>功能截圖 01｜登入頁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帳號登入入口，含顯示密碼與忘記密碼提示。</a:t>
            </a:r>
          </a:p>
        </p:txBody>
      </p:sp>
      <p:pic>
        <p:nvPicPr>
          <p:cNvPr id="5" name="Picture 4" descr="login-console-pro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" y="1234440"/>
            <a:ext cx="7827264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帳號登入入口，含顯示密碼與忘記密碼提示。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使用者進入系統的第一步。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BD5E1"/>
                </a:solidFill>
                <a:latin typeface="Aptos"/>
              </a:rPr>
              <a:t>截圖來源：qa-output-17/login-console-production.png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功能截圖 02｜主管儀表板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0F172A"/>
                </a:solidFill>
                <a:latin typeface="Aptos"/>
              </a:rPr>
              <a:t>集中查看客戶、對話、處理速度與待辦狀態。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" y="1234440"/>
            <a:ext cx="7044537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集中查看客戶、對話、處理速度與待辦狀態。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主管用來掌握整體營運狀況。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0F172A"/>
                </a:solidFill>
                <a:latin typeface="Aptos"/>
              </a:rPr>
              <a:t>截圖來源：qa-output-17/rbac-ui/admin-dashboard.png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 Display"/>
              </a:rPr>
              <a:t>功能截圖 03｜對話收件匣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客服主要工作台：對話列表、訊息內容、客戶情報同頁呈現。</a:t>
            </a:r>
          </a:p>
        </p:txBody>
      </p:sp>
      <p:pic>
        <p:nvPicPr>
          <p:cNvPr id="5" name="Picture 4" descr="admin-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" y="1234440"/>
            <a:ext cx="7044537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客服主要工作台：對話列表、訊息內容、客戶情報同頁呈現。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日常客服回覆與追蹤的核心。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BD5E1"/>
                </a:solidFill>
                <a:latin typeface="Aptos"/>
              </a:rPr>
              <a:t>截圖來源：qa-output-17/rbac-ui/admin-inbox.png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功能截圖 04｜對話工作台強化版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0F172A"/>
                </a:solidFill>
                <a:latin typeface="Aptos"/>
              </a:rPr>
              <a:t>右側整合客戶摘要、意圖與 AI 建議。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7" y="1234440"/>
            <a:ext cx="7827264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右側整合客戶摘要、意圖與 AI 建議。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減少客服切頁查資料。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0F172A"/>
                </a:solidFill>
                <a:latin typeface="Aptos"/>
              </a:rPr>
              <a:t>截圖來源：qa-output-17/ui-cockpit/inbox-cockpit.png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 Display"/>
              </a:rPr>
              <a:t>功能截圖 05｜發送訊息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直接在對話中回覆客戶並留下紀錄。</a:t>
            </a:r>
          </a:p>
        </p:txBody>
      </p:sp>
      <p:pic>
        <p:nvPicPr>
          <p:cNvPr id="5" name="Picture 4" descr="02-s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68" y="1234440"/>
            <a:ext cx="7415302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直接在對話中回覆客戶並留下紀錄。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確認客服回覆流程可操作。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BD5E1"/>
                </a:solidFill>
                <a:latin typeface="Aptos"/>
              </a:rPr>
              <a:t>截圖來源：qa-output-17/screenshots/02-send.png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功能截圖 06｜內部備註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0F172A"/>
                </a:solidFill>
                <a:latin typeface="Aptos"/>
              </a:rPr>
              <a:t>客服可在對話中留下只給內部看的備註。</a:t>
            </a:r>
          </a:p>
        </p:txBody>
      </p:sp>
      <p:pic>
        <p:nvPicPr>
          <p:cNvPr id="5" name="Picture 4" descr="03-internal-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68" y="1234440"/>
            <a:ext cx="7415302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客服可在對話中留下只給內部看的備註。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避免內部提醒誤發給客戶。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0F172A"/>
                </a:solidFill>
                <a:latin typeface="Aptos"/>
              </a:rPr>
              <a:t>截圖來源：qa-output-17/screenshots/03-internal-note.png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 Display"/>
              </a:rPr>
              <a:t>功能截圖 07｜預存語錄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快速插入常用回覆，並支援搜尋與分類。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68" y="1234440"/>
            <a:ext cx="7188303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快速插入常用回覆，並支援搜尋與分類。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提升回覆速度與一致性。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BD5E1"/>
                </a:solidFill>
                <a:latin typeface="Aptos"/>
              </a:rPr>
              <a:t>截圖來源：qa-output-17/tunnel-deploy/quick-replies-dropdown-open.png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功能截圖 08｜求援／升級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0F172A"/>
                </a:solidFill>
                <a:latin typeface="Aptos"/>
              </a:rPr>
              <a:t>客服遇到需要主管協助的情況可求援。</a:t>
            </a:r>
          </a:p>
        </p:txBody>
      </p:sp>
      <p:pic>
        <p:nvPicPr>
          <p:cNvPr id="5" name="Picture 4" descr="05-esca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68" y="1234440"/>
            <a:ext cx="7415302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客服遇到需要主管協助的情況可求援。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讓高風險或高價值客戶更快被主管看見。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0F172A"/>
                </a:solidFill>
                <a:latin typeface="Aptos"/>
              </a:rPr>
              <a:t>截圖來源：qa-output-17/screenshots/05-escalation.png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 Display"/>
              </a:rPr>
              <a:t>功能截圖 09｜標記已解決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完成服務後可將對話標記為已解決。</a:t>
            </a:r>
          </a:p>
        </p:txBody>
      </p:sp>
      <p:pic>
        <p:nvPicPr>
          <p:cNvPr id="5" name="Picture 4" descr="05-esca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68" y="1234440"/>
            <a:ext cx="7415302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完成服務後可將對話標記為已解決。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利於後續追蹤處理進度。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BD5E1"/>
                </a:solidFill>
                <a:latin typeface="Aptos"/>
              </a:rPr>
              <a:t>截圖來源：qa-output-17/screenshots/06-resolve.png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功能截圖 10｜篩選與搜尋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0F172A"/>
                </a:solidFill>
                <a:latin typeface="Aptos"/>
              </a:rPr>
              <a:t>依狀態、渠道、關鍵字找到指定對話。</a:t>
            </a:r>
          </a:p>
        </p:txBody>
      </p:sp>
      <p:pic>
        <p:nvPicPr>
          <p:cNvPr id="5" name="Picture 4" descr="07-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68" y="1234440"/>
            <a:ext cx="7415302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依狀態、渠道、關鍵字找到指定對話。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降低大量訊息中的查找成本。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0F172A"/>
                </a:solidFill>
                <a:latin typeface="Aptos"/>
              </a:rPr>
              <a:t>截圖來源：qa-output-17/screenshots/07-filters.png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 Display"/>
              </a:rPr>
              <a:t>功能截圖 11｜客戶管理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查看客戶列表、來源與標籤。</a:t>
            </a:r>
          </a:p>
        </p:txBody>
      </p:sp>
      <p:pic>
        <p:nvPicPr>
          <p:cNvPr id="5" name="Picture 4" descr="admin-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" y="1234440"/>
            <a:ext cx="7044537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查看客戶列表、來源與標籤。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把對話轉成可管理的客戶資料。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BD5E1"/>
                </a:solidFill>
                <a:latin typeface="Aptos"/>
              </a:rPr>
              <a:t>截圖來源：qa-output-17/rbac-ui/admin-contacts.png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功能截圖 12｜客戶詳情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0F172A"/>
                </a:solidFill>
                <a:latin typeface="Aptos"/>
              </a:rPr>
              <a:t>查看單一客戶的基本資料、歷史與關聯資訊。</a:t>
            </a:r>
          </a:p>
        </p:txBody>
      </p:sp>
      <p:pic>
        <p:nvPicPr>
          <p:cNvPr id="5" name="Picture 4" descr="contact-王設計師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68" y="1234440"/>
            <a:ext cx="7415302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查看單一客戶的基本資料、歷史與關聯資訊。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支援更精準的跟進。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0F172A"/>
                </a:solidFill>
                <a:latin typeface="Aptos"/>
              </a:rPr>
              <a:t>截圖來源：qa-output-17/screenshots/contact-王設計師.png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 Display"/>
              </a:rPr>
              <a:t>功能截圖 13｜報價管理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查看與管理報價相關資訊。</a:t>
            </a:r>
          </a:p>
        </p:txBody>
      </p:sp>
      <p:pic>
        <p:nvPicPr>
          <p:cNvPr id="5" name="Picture 4" descr="admin-qu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" y="1234440"/>
            <a:ext cx="7044537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查看與管理報價相關資訊。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銜接客服對話與商務報價。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BD5E1"/>
                </a:solidFill>
                <a:latin typeface="Aptos"/>
              </a:rPr>
              <a:t>截圖來源：qa-output-17/rbac-ui/admin-quotes.png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功能截圖 14｜待辦事項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0F172A"/>
                </a:solidFill>
                <a:latin typeface="Aptos"/>
              </a:rPr>
              <a:t>集中管理需要後續處理的任務。</a:t>
            </a:r>
          </a:p>
        </p:txBody>
      </p:sp>
      <p:pic>
        <p:nvPicPr>
          <p:cNvPr id="5" name="Picture 4" descr="admin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" y="1234440"/>
            <a:ext cx="7044537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集中管理需要後續處理的任務。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確保追蹤事項不漏接。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0F172A"/>
                </a:solidFill>
                <a:latin typeface="Aptos"/>
              </a:rPr>
              <a:t>截圖來源：qa-output-17/rbac-ui/admin-actions.png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 Display"/>
              </a:rPr>
              <a:t>功能截圖 15｜庫存管理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查看商品與庫存相關資料。</a:t>
            </a:r>
          </a:p>
        </p:txBody>
      </p:sp>
      <p:pic>
        <p:nvPicPr>
          <p:cNvPr id="5" name="Picture 4" descr="admin-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927" y="1234440"/>
            <a:ext cx="3838985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查看商品與庫存相關資料。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讓客服與報價時能參考庫存狀態。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BD5E1"/>
                </a:solidFill>
                <a:latin typeface="Aptos"/>
              </a:rPr>
              <a:t>截圖來源：qa-output-17/rbac-ui/admin-inventory.png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功能截圖 16｜知識庫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0F172A"/>
                </a:solidFill>
                <a:latin typeface="Aptos"/>
              </a:rPr>
              <a:t>集中維護產品、材質、話術等知識內容。</a:t>
            </a:r>
          </a:p>
        </p:txBody>
      </p:sp>
      <p:pic>
        <p:nvPicPr>
          <p:cNvPr id="5" name="Picture 4" descr="admin-knowledge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" y="1234440"/>
            <a:ext cx="7044537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集中維護產品、材質、話術等知識內容。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讓 AI 與客服能有一致資訊來源。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0F172A"/>
                </a:solidFill>
                <a:latin typeface="Aptos"/>
              </a:rPr>
              <a:t>截圖來源：qa-output-17/rbac-ui/admin-knowledge-base.png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 Display"/>
              </a:rPr>
              <a:t>功能截圖 17｜系統設定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管理使用者、權限與系統相關設定。</a:t>
            </a:r>
          </a:p>
        </p:txBody>
      </p:sp>
      <p:pic>
        <p:nvPicPr>
          <p:cNvPr id="5" name="Picture 4" descr="admin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" y="1234440"/>
            <a:ext cx="7044537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管理使用者、權限與系統相關設定。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管理端維護入口。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BD5E1"/>
                </a:solidFill>
                <a:latin typeface="Aptos"/>
              </a:rPr>
              <a:t>截圖來源：qa-output-17/rbac-ui/admin-settings.png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功能截圖 18｜快速回覆管理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0F172A"/>
                </a:solidFill>
                <a:latin typeface="Aptos"/>
              </a:rPr>
              <a:t>設定頁可管理快捷回覆內容。</a:t>
            </a:r>
          </a:p>
        </p:txBody>
      </p:sp>
      <p:pic>
        <p:nvPicPr>
          <p:cNvPr id="5" name="Picture 4" descr="quick-replies-ui-smo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68" y="1234440"/>
            <a:ext cx="7188303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設定頁可管理快捷回覆內容。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營運可維護常用話術。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0F172A"/>
                </a:solidFill>
                <a:latin typeface="Aptos"/>
              </a:rPr>
              <a:t>截圖來源：qa-output-17/tunnel-deploy/quick-replies-ui-smoke.png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 Display"/>
              </a:rPr>
              <a:t>功能截圖 19｜AI 客戶情報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顯示客戶摘要、急迫程度與建議回覆。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68" y="1234440"/>
            <a:ext cx="7415302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顯示客戶摘要、急迫程度與建議回覆。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協助客服判斷下一步。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BD5E1"/>
                </a:solidFill>
                <a:latin typeface="Aptos"/>
              </a:rPr>
              <a:t>截圖來源：qa-output-17/screenshots-ai-tone/08-inbox-after-deep-analysis.png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tos Display"/>
              </a:rPr>
              <a:t>功能截圖 20｜機器人互動訊息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0F172A"/>
                </a:solidFill>
                <a:latin typeface="Aptos"/>
              </a:rPr>
              <a:t>對話中可顯示 bot 按鈕與互動內容。</a:t>
            </a:r>
          </a:p>
        </p:txBody>
      </p:sp>
      <p:pic>
        <p:nvPicPr>
          <p:cNvPr id="5" name="Picture 4" descr="bot-buttons-conversation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151" y="1234440"/>
            <a:ext cx="7044537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對話中可顯示 bot 按鈕與互動內容。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0F172A"/>
                </a:solidFill>
                <a:latin typeface="Aptos"/>
              </a:rPr>
              <a:t>保留 Telegram/機器人互動脈絡。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0F172A"/>
                </a:solidFill>
                <a:latin typeface="Aptos"/>
              </a:rPr>
              <a:t>截圖來源：qa-output-17/bot-buttons-conversation-detail.png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692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 Display"/>
              </a:rPr>
              <a:t>功能截圖 21｜即時更新驗證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CBD5E1"/>
                </a:solidFill>
                <a:latin typeface="Aptos"/>
              </a:rPr>
              <a:t>不同畫面可接收新訊息更新，不必一直手動刷新。</a:t>
            </a:r>
          </a:p>
        </p:txBody>
      </p:sp>
      <p:pic>
        <p:nvPicPr>
          <p:cNvPr id="5" name="Picture 4" descr="realtime-api-to-inbox-smoke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68" y="1234440"/>
            <a:ext cx="7188303" cy="4892040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732520" y="1234440"/>
            <a:ext cx="2743200" cy="4892040"/>
          </a:xfrm>
          <a:prstGeom prst="roundRect">
            <a:avLst/>
          </a:prstGeom>
          <a:solidFill>
            <a:srgbClr val="1F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6840" y="1572768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畫面說明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2029968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不同畫面可接收新訊息更新，不必一直手動刷新。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3154680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8FAFC"/>
                </a:solidFill>
                <a:latin typeface="Aptos"/>
              </a:rPr>
              <a:t>對營運的價值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611880"/>
            <a:ext cx="21488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CBD5E1"/>
                </a:solidFill>
                <a:latin typeface="Aptos"/>
              </a:rPr>
              <a:t>降低漏看新訊息的風險。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80" b="0">
                <a:solidFill>
                  <a:srgbClr val="CBD5E1"/>
                </a:solidFill>
                <a:latin typeface="Aptos"/>
              </a:rPr>
              <a:t>截圖來源：qa-output-17/tunnel-deploy/realtime-api-to-inbox-smoke-final.png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